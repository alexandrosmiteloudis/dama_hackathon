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Fira Sans"/>
      <p:regular r:id="rId15"/>
      <p:bold r:id="rId16"/>
      <p:italic r:id="rId17"/>
      <p:boldItalic r:id="rId18"/>
    </p:embeddedFont>
    <p:embeddedFont>
      <p:font typeface="Fira Sans Extra Condensed"/>
      <p:regular r:id="rId19"/>
      <p:bold r:id="rId20"/>
      <p:italic r:id="rId21"/>
      <p:boldItalic r:id="rId22"/>
    </p:embeddedFont>
    <p:embeddedFont>
      <p:font typeface="Fira Sans Extra Condensed SemiBold"/>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guide id="3" pos="340">
          <p15:clr>
            <a:srgbClr val="747775"/>
          </p15:clr>
        </p15:guide>
        <p15:guide id="4" pos="5420">
          <p15:clr>
            <a:srgbClr val="747775"/>
          </p15:clr>
        </p15:guide>
        <p15:guide id="5" orient="horz" pos="850">
          <p15:clr>
            <a:srgbClr val="747775"/>
          </p15:clr>
        </p15:guide>
        <p15:guide id="6" orient="horz" pos="2891">
          <p15:clr>
            <a:srgbClr val="747775"/>
          </p15:clr>
        </p15:guide>
        <p15:guide id="7" orient="horz" pos="28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340"/>
        <p:guide pos="5420"/>
        <p:guide pos="850" orient="horz"/>
        <p:guide pos="2891" orient="horz"/>
        <p:guide pos="28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raSansExtraCondensed-bold.fntdata"/><Relationship Id="rId22" Type="http://schemas.openxmlformats.org/officeDocument/2006/relationships/font" Target="fonts/FiraSansExtraCondensed-boldItalic.fntdata"/><Relationship Id="rId21" Type="http://schemas.openxmlformats.org/officeDocument/2006/relationships/font" Target="fonts/FiraSansExtraCondensed-italic.fntdata"/><Relationship Id="rId24" Type="http://schemas.openxmlformats.org/officeDocument/2006/relationships/font" Target="fonts/FiraSansExtraCondensedSemiBold-bold.fntdata"/><Relationship Id="rId23" Type="http://schemas.openxmlformats.org/officeDocument/2006/relationships/font" Target="fonts/FiraSansExtraCondensed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iraSansExtraCondensedSemiBold-boldItalic.fntdata"/><Relationship Id="rId25" Type="http://schemas.openxmlformats.org/officeDocument/2006/relationships/font" Target="fonts/FiraSansExtraCondensedSemi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FiraSans-regular.fntdata"/><Relationship Id="rId14" Type="http://schemas.openxmlformats.org/officeDocument/2006/relationships/slide" Target="slides/slide9.xml"/><Relationship Id="rId17" Type="http://schemas.openxmlformats.org/officeDocument/2006/relationships/font" Target="fonts/FiraSans-italic.fntdata"/><Relationship Id="rId16" Type="http://schemas.openxmlformats.org/officeDocument/2006/relationships/font" Target="fonts/FiraSans-bold.fntdata"/><Relationship Id="rId19" Type="http://schemas.openxmlformats.org/officeDocument/2006/relationships/font" Target="fonts/FiraSansExtraCondensed-regular.fntdata"/><Relationship Id="rId18" Type="http://schemas.openxmlformats.org/officeDocument/2006/relationships/font" Target="fonts/Fira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Breast cancer molecular heterogeneity makes it hard to predict prognosis with clinical data alone.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caa7efe5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ccaa7efe5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Breast cancer molecular heterogeneity makes it hard to predict prognosis with clinical data alone.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caa7efe5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caa7efe5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Breast cancer molecular heterogeneity makes it hard to predict prognosis with clinical data alone.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caa7efe5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caa7efe5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Breast cancer molecular heterogeneity makes it hard to predict prognosis with clinical data alone.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caa7efe5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ccaa7efe5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Filtered "early-censored" cases to ensure ground-truth accuracy and binarized mutation statuses.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caa7efe5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caa7efe5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1"/>
                </a:solidFill>
              </a:rPr>
              <a:t>We didn't just predict survival at year 5; we modeled the entire patient journey. A C-Index of 0.67 shows strong ranking capability over long-term follow-ups.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caa7efe5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caa7efe5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1"/>
                </a:solidFill>
              </a:rPr>
              <a:t>Our model correctly identified </a:t>
            </a:r>
            <a:r>
              <a:rPr b="1" lang="el">
                <a:solidFill>
                  <a:schemeClr val="dk1"/>
                </a:solidFill>
              </a:rPr>
              <a:t>TP53</a:t>
            </a:r>
            <a:r>
              <a:rPr lang="el">
                <a:solidFill>
                  <a:schemeClr val="dk1"/>
                </a:solidFill>
              </a:rPr>
              <a:t> as the top risk factor, which matches global oncology standards, validating our statistical pipeline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caa7efe5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caa7efe5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l">
                <a:solidFill>
                  <a:schemeClr val="dk1"/>
                </a:solidFill>
              </a:rPr>
              <a:t>Focus on that +4.7% boost. In a clinical setting, that increase represents many patients getting a more accurate prognosis.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caa7efe5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caa7efe5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53" name="Shape 53"/>
        <p:cNvGrpSpPr/>
        <p:nvPr/>
      </p:nvGrpSpPr>
      <p:grpSpPr>
        <a:xfrm>
          <a:off x="0" y="0"/>
          <a:ext cx="0" cy="0"/>
          <a:chOff x="0" y="0"/>
          <a:chExt cx="0" cy="0"/>
        </a:xfrm>
      </p:grpSpPr>
      <p:sp>
        <p:nvSpPr>
          <p:cNvPr id="54" name="Google Shape;54;p13"/>
          <p:cNvSpPr txBox="1"/>
          <p:nvPr/>
        </p:nvSpPr>
        <p:spPr>
          <a:xfrm>
            <a:off x="540000" y="2786044"/>
            <a:ext cx="5742600" cy="4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
              </a:spcAft>
              <a:buClr>
                <a:schemeClr val="dk1"/>
              </a:buClr>
              <a:buSzPts val="1100"/>
              <a:buFont typeface="Arial"/>
              <a:buNone/>
            </a:pPr>
            <a:r>
              <a:rPr i="1" lang="el" sz="1450">
                <a:solidFill>
                  <a:srgbClr val="2C5F8A"/>
                </a:solidFill>
                <a:latin typeface="Fira Sans"/>
                <a:ea typeface="Fira Sans"/>
                <a:cs typeface="Fira Sans"/>
                <a:sym typeface="Fira Sans"/>
              </a:rPr>
              <a:t>Predicting 5-Year Survival and Time-to-Event in Breast Cancer</a:t>
            </a:r>
            <a:endParaRPr i="1" sz="1450">
              <a:solidFill>
                <a:srgbClr val="2C5F8A"/>
              </a:solidFill>
              <a:latin typeface="Fira Sans"/>
              <a:ea typeface="Fira Sans"/>
              <a:cs typeface="Fira Sans"/>
              <a:sym typeface="Fira Sans"/>
            </a:endParaRPr>
          </a:p>
        </p:txBody>
      </p:sp>
      <p:sp>
        <p:nvSpPr>
          <p:cNvPr id="55" name="Google Shape;55;p13"/>
          <p:cNvSpPr txBox="1"/>
          <p:nvPr/>
        </p:nvSpPr>
        <p:spPr>
          <a:xfrm>
            <a:off x="540000" y="1509294"/>
            <a:ext cx="8064000" cy="7542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3700">
                <a:solidFill>
                  <a:srgbClr val="1A3C5E"/>
                </a:solidFill>
                <a:latin typeface="Fira Sans Extra Condensed"/>
                <a:ea typeface="Fira Sans Extra Condensed"/>
                <a:cs typeface="Fira Sans Extra Condensed"/>
                <a:sym typeface="Fira Sans Extra Condensed"/>
              </a:rPr>
              <a:t>AN INTEGRATED CLINICAL &amp; GENOMIC</a:t>
            </a:r>
            <a:endParaRPr b="1" sz="3700">
              <a:solidFill>
                <a:srgbClr val="1A3C5E"/>
              </a:solidFill>
              <a:latin typeface="Fira Sans Extra Condensed"/>
              <a:ea typeface="Fira Sans Extra Condensed"/>
              <a:cs typeface="Fira Sans Extra Condensed"/>
              <a:sym typeface="Fira Sans Extra Condensed"/>
            </a:endParaRPr>
          </a:p>
        </p:txBody>
      </p:sp>
      <p:sp>
        <p:nvSpPr>
          <p:cNvPr id="56" name="Google Shape;56;p13"/>
          <p:cNvSpPr txBox="1"/>
          <p:nvPr/>
        </p:nvSpPr>
        <p:spPr>
          <a:xfrm>
            <a:off x="540000" y="3794700"/>
            <a:ext cx="7102200" cy="79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sz="1350">
                <a:solidFill>
                  <a:srgbClr val="2C5F8A"/>
                </a:solidFill>
                <a:latin typeface="Fira Sans"/>
                <a:ea typeface="Fira Sans"/>
                <a:cs typeface="Fira Sans"/>
                <a:sym typeface="Fira Sans"/>
              </a:rPr>
              <a:t>Hellenic Open University</a:t>
            </a:r>
            <a:endParaRPr b="1" sz="1350">
              <a:solidFill>
                <a:srgbClr val="2C5F8A"/>
              </a:solidFill>
              <a:latin typeface="Fira Sans"/>
              <a:ea typeface="Fira Sans"/>
              <a:cs typeface="Fira Sans"/>
              <a:sym typeface="Fira Sans"/>
            </a:endParaRPr>
          </a:p>
          <a:p>
            <a:pPr indent="0" lvl="0" marL="0" rtl="0" algn="l">
              <a:spcBef>
                <a:spcPts val="100"/>
              </a:spcBef>
              <a:spcAft>
                <a:spcPts val="0"/>
              </a:spcAft>
              <a:buNone/>
            </a:pPr>
            <a:r>
              <a:rPr b="1" lang="el" sz="1350">
                <a:solidFill>
                  <a:srgbClr val="2C5F8A"/>
                </a:solidFill>
                <a:latin typeface="Fira Sans"/>
                <a:ea typeface="Fira Sans"/>
                <a:cs typeface="Fira Sans"/>
                <a:sym typeface="Fira Sans"/>
              </a:rPr>
              <a:t>Data Science &amp; Machine Learning (DAMA)</a:t>
            </a:r>
            <a:endParaRPr b="1" sz="1350">
              <a:solidFill>
                <a:srgbClr val="2C5F8A"/>
              </a:solidFill>
              <a:latin typeface="Fira Sans"/>
              <a:ea typeface="Fira Sans"/>
              <a:cs typeface="Fira Sans"/>
              <a:sym typeface="Fira Sans"/>
            </a:endParaRPr>
          </a:p>
          <a:p>
            <a:pPr indent="0" lvl="0" marL="0" rtl="0" algn="l">
              <a:spcBef>
                <a:spcPts val="100"/>
              </a:spcBef>
              <a:spcAft>
                <a:spcPts val="100"/>
              </a:spcAft>
              <a:buNone/>
            </a:pPr>
            <a:r>
              <a:rPr lang="el" sz="1100">
                <a:solidFill>
                  <a:srgbClr val="2C5F8A"/>
                </a:solidFill>
                <a:latin typeface="Fira Sans"/>
                <a:ea typeface="Fira Sans"/>
                <a:cs typeface="Fira Sans"/>
                <a:sym typeface="Fira Sans"/>
              </a:rPr>
              <a:t>Demiris Stefanos Panagiotis, Diamantis Theodosis, Lantouri Athanasia, Miteloudis Alexandros</a:t>
            </a:r>
            <a:endParaRPr sz="1100">
              <a:solidFill>
                <a:srgbClr val="2C5F8A"/>
              </a:solidFill>
              <a:latin typeface="Fira Sans"/>
              <a:ea typeface="Fira Sans"/>
              <a:cs typeface="Fira Sans"/>
              <a:sym typeface="Fira Sans"/>
            </a:endParaRPr>
          </a:p>
        </p:txBody>
      </p:sp>
      <p:sp>
        <p:nvSpPr>
          <p:cNvPr id="57" name="Google Shape;57;p13"/>
          <p:cNvSpPr txBox="1"/>
          <p:nvPr/>
        </p:nvSpPr>
        <p:spPr>
          <a:xfrm>
            <a:off x="540000" y="2031845"/>
            <a:ext cx="8064000" cy="7542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3700">
                <a:solidFill>
                  <a:srgbClr val="1A3C5E"/>
                </a:solidFill>
                <a:latin typeface="Fira Sans Extra Condensed"/>
                <a:ea typeface="Fira Sans Extra Condensed"/>
                <a:cs typeface="Fira Sans Extra Condensed"/>
                <a:sym typeface="Fira Sans Extra Condensed"/>
              </a:rPr>
              <a:t>MACHINE LEARNING APPROACH</a:t>
            </a:r>
            <a:endParaRPr b="1" sz="3700">
              <a:solidFill>
                <a:srgbClr val="1A3C5E"/>
              </a:solidFill>
              <a:latin typeface="Fira Sans Extra Condensed"/>
              <a:ea typeface="Fira Sans Extra Condensed"/>
              <a:cs typeface="Fira Sans Extra Condensed"/>
              <a:sym typeface="Fira Sans Extra Condensed"/>
            </a:endParaRPr>
          </a:p>
        </p:txBody>
      </p:sp>
      <p:cxnSp>
        <p:nvCxnSpPr>
          <p:cNvPr id="58" name="Google Shape;58;p13"/>
          <p:cNvCxnSpPr/>
          <p:nvPr/>
        </p:nvCxnSpPr>
        <p:spPr>
          <a:xfrm>
            <a:off x="551700" y="2753290"/>
            <a:ext cx="6612000" cy="0"/>
          </a:xfrm>
          <a:prstGeom prst="straightConnector1">
            <a:avLst/>
          </a:prstGeom>
          <a:noFill/>
          <a:ln cap="flat" cmpd="sng" w="9525">
            <a:solidFill>
              <a:srgbClr val="2C5F8A"/>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62" name="Shape 62"/>
        <p:cNvGrpSpPr/>
        <p:nvPr/>
      </p:nvGrpSpPr>
      <p:grpSpPr>
        <a:xfrm>
          <a:off x="0" y="0"/>
          <a:ext cx="0" cy="0"/>
          <a:chOff x="0" y="0"/>
          <a:chExt cx="0" cy="0"/>
        </a:xfrm>
      </p:grpSpPr>
      <p:sp>
        <p:nvSpPr>
          <p:cNvPr id="63" name="Google Shape;63;p14"/>
          <p:cNvSpPr txBox="1"/>
          <p:nvPr/>
        </p:nvSpPr>
        <p:spPr>
          <a:xfrm>
            <a:off x="540000" y="1391975"/>
            <a:ext cx="4032000" cy="190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1000">
                <a:solidFill>
                  <a:srgbClr val="2C5F8A"/>
                </a:solidFill>
                <a:latin typeface="Fira Sans"/>
                <a:ea typeface="Fira Sans"/>
                <a:cs typeface="Fira Sans"/>
                <a:sym typeface="Fira Sans"/>
              </a:rPr>
              <a:t>Breast cancer accounts for roughly 30% of all new female cancer diagnoses globally. While doctors have traditionally relied on clinical variables like tumor size and histologic grade to predict patient outcomes, these physical traits fail to capture the deep biological differences hidden inside the tumor.</a:t>
            </a:r>
            <a:endParaRPr sz="1000">
              <a:solidFill>
                <a:srgbClr val="2C5F8A"/>
              </a:solidFill>
              <a:latin typeface="Fira Sans"/>
              <a:ea typeface="Fira Sans"/>
              <a:cs typeface="Fira Sans"/>
              <a:sym typeface="Fira Sans"/>
            </a:endParaRPr>
          </a:p>
          <a:p>
            <a:pPr indent="0" lvl="0" marL="0" rtl="0" algn="l">
              <a:spcBef>
                <a:spcPts val="100"/>
              </a:spcBef>
              <a:spcAft>
                <a:spcPts val="0"/>
              </a:spcAft>
              <a:buNone/>
            </a:pPr>
            <a:r>
              <a:t/>
            </a:r>
            <a:endParaRPr sz="1000">
              <a:solidFill>
                <a:srgbClr val="2C5F8A"/>
              </a:solidFill>
              <a:latin typeface="Fira Sans"/>
              <a:ea typeface="Fira Sans"/>
              <a:cs typeface="Fira Sans"/>
              <a:sym typeface="Fira Sans"/>
            </a:endParaRPr>
          </a:p>
          <a:p>
            <a:pPr indent="0" lvl="0" marL="0" rtl="0" algn="l">
              <a:spcBef>
                <a:spcPts val="100"/>
              </a:spcBef>
              <a:spcAft>
                <a:spcPts val="100"/>
              </a:spcAft>
              <a:buNone/>
            </a:pPr>
            <a:r>
              <a:rPr lang="el" sz="1000">
                <a:solidFill>
                  <a:srgbClr val="2C5F8A"/>
                </a:solidFill>
                <a:latin typeface="Fira Sans"/>
                <a:ea typeface="Fira Sans"/>
                <a:cs typeface="Fira Sans"/>
                <a:sym typeface="Fira Sans"/>
              </a:rPr>
              <a:t>Our core objective is to determine if we can make more accurate predictions. We want to see if integrating a targeted 22-gene expression panel and genetic mutation data significantly improves our ability to predict 5-year survival compared to using standard hospital data alone.</a:t>
            </a:r>
            <a:endParaRPr sz="1000">
              <a:solidFill>
                <a:srgbClr val="2C5F8A"/>
              </a:solidFill>
              <a:latin typeface="Fira Sans"/>
              <a:ea typeface="Fira Sans"/>
              <a:cs typeface="Fira Sans"/>
              <a:sym typeface="Fira Sans"/>
            </a:endParaRPr>
          </a:p>
        </p:txBody>
      </p:sp>
      <p:sp>
        <p:nvSpPr>
          <p:cNvPr id="64" name="Google Shape;64;p14"/>
          <p:cNvSpPr txBox="1"/>
          <p:nvPr/>
        </p:nvSpPr>
        <p:spPr>
          <a:xfrm>
            <a:off x="540000" y="450000"/>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INTRODUCTION &amp; CHALLENGE</a:t>
            </a:r>
            <a:endParaRPr b="1" sz="2500">
              <a:solidFill>
                <a:srgbClr val="1A3C5E"/>
              </a:solidFill>
              <a:latin typeface="Fira Sans Extra Condensed"/>
              <a:ea typeface="Fira Sans Extra Condensed"/>
              <a:cs typeface="Fira Sans Extra Condensed"/>
              <a:sym typeface="Fira Sans Extra Condensed"/>
            </a:endParaRPr>
          </a:p>
        </p:txBody>
      </p:sp>
      <p:sp>
        <p:nvSpPr>
          <p:cNvPr id="65" name="Google Shape;65;p14"/>
          <p:cNvSpPr txBox="1"/>
          <p:nvPr/>
        </p:nvSpPr>
        <p:spPr>
          <a:xfrm>
            <a:off x="540000" y="852229"/>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BREAST CANCER HETEROGENEITY</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69" name="Shape 69"/>
        <p:cNvGrpSpPr/>
        <p:nvPr/>
      </p:nvGrpSpPr>
      <p:grpSpPr>
        <a:xfrm>
          <a:off x="0" y="0"/>
          <a:ext cx="0" cy="0"/>
          <a:chOff x="0" y="0"/>
          <a:chExt cx="0" cy="0"/>
        </a:xfrm>
      </p:grpSpPr>
      <p:sp>
        <p:nvSpPr>
          <p:cNvPr id="70" name="Google Shape;70;p15"/>
          <p:cNvSpPr txBox="1"/>
          <p:nvPr/>
        </p:nvSpPr>
        <p:spPr>
          <a:xfrm>
            <a:off x="540000" y="1350000"/>
            <a:ext cx="5115000" cy="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l" sz="1000">
                <a:solidFill>
                  <a:srgbClr val="2C5F8A"/>
                </a:solidFill>
                <a:latin typeface="Fira Sans"/>
                <a:ea typeface="Fira Sans"/>
                <a:cs typeface="Fira Sans"/>
                <a:sym typeface="Fira Sans"/>
              </a:rPr>
              <a:t>To answer this question, we analyzed the METABRIC dataset, tracking 1,904 patients. Before building any AI models, we profiled the cohort to understand the baseline clinical traits, such as the age at diagnosis—which averaged 61 years—and the distribution of tumor sizes and grades.</a:t>
            </a:r>
            <a:endParaRPr sz="1000">
              <a:solidFill>
                <a:srgbClr val="2C5F8A"/>
              </a:solidFill>
              <a:latin typeface="Fira Sans"/>
              <a:ea typeface="Fira Sans"/>
              <a:cs typeface="Fira Sans"/>
              <a:sym typeface="Fira Sans"/>
            </a:endParaRPr>
          </a:p>
        </p:txBody>
      </p:sp>
      <p:sp>
        <p:nvSpPr>
          <p:cNvPr id="71" name="Google Shape;71;p15"/>
          <p:cNvSpPr txBox="1"/>
          <p:nvPr/>
        </p:nvSpPr>
        <p:spPr>
          <a:xfrm>
            <a:off x="540000" y="450000"/>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DATASET OVERVIEW</a:t>
            </a:r>
            <a:endParaRPr b="1" sz="2500">
              <a:solidFill>
                <a:srgbClr val="1A3C5E"/>
              </a:solidFill>
              <a:latin typeface="Fira Sans Extra Condensed"/>
              <a:ea typeface="Fira Sans Extra Condensed"/>
              <a:cs typeface="Fira Sans Extra Condensed"/>
              <a:sym typeface="Fira Sans Extra Condensed"/>
            </a:endParaRPr>
          </a:p>
        </p:txBody>
      </p:sp>
      <p:sp>
        <p:nvSpPr>
          <p:cNvPr id="72" name="Google Shape;72;p15"/>
          <p:cNvSpPr txBox="1"/>
          <p:nvPr/>
        </p:nvSpPr>
        <p:spPr>
          <a:xfrm>
            <a:off x="540000" y="852229"/>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THE EDA PLOTS</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pic>
        <p:nvPicPr>
          <p:cNvPr id="73" name="Google Shape;73;p15"/>
          <p:cNvPicPr preferRelativeResize="0"/>
          <p:nvPr/>
        </p:nvPicPr>
        <p:blipFill>
          <a:blip r:embed="rId3">
            <a:alphaModFix/>
          </a:blip>
          <a:stretch>
            <a:fillRect/>
          </a:stretch>
        </p:blipFill>
        <p:spPr>
          <a:xfrm>
            <a:off x="894588" y="2593525"/>
            <a:ext cx="7354826" cy="1996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77" name="Shape 77"/>
        <p:cNvGrpSpPr/>
        <p:nvPr/>
      </p:nvGrpSpPr>
      <p:grpSpPr>
        <a:xfrm>
          <a:off x="0" y="0"/>
          <a:ext cx="0" cy="0"/>
          <a:chOff x="0" y="0"/>
          <a:chExt cx="0" cy="0"/>
        </a:xfrm>
      </p:grpSpPr>
      <p:sp>
        <p:nvSpPr>
          <p:cNvPr id="78" name="Google Shape;78;p16"/>
          <p:cNvSpPr txBox="1"/>
          <p:nvPr/>
        </p:nvSpPr>
        <p:spPr>
          <a:xfrm>
            <a:off x="540000" y="1350000"/>
            <a:ext cx="5115000" cy="86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l" sz="1000">
                <a:solidFill>
                  <a:srgbClr val="2C5F8A"/>
                </a:solidFill>
                <a:latin typeface="Fira Sans"/>
                <a:ea typeface="Fira Sans"/>
                <a:cs typeface="Fira Sans"/>
                <a:sym typeface="Fira Sans"/>
              </a:rPr>
              <a:t>We also examined hormone receptor statuses (ER, PR, and HER2). Notably, our data visualisations highlight that approximately 15.6% of the cohort suffers from Triple Negative Breast Cancer, which is widely recognized as the most challenging and aggressive subtype to treat.</a:t>
            </a:r>
            <a:endParaRPr sz="1000">
              <a:solidFill>
                <a:srgbClr val="2C5F8A"/>
              </a:solidFill>
              <a:latin typeface="Fira Sans"/>
              <a:ea typeface="Fira Sans"/>
              <a:cs typeface="Fira Sans"/>
              <a:sym typeface="Fira Sans"/>
            </a:endParaRPr>
          </a:p>
        </p:txBody>
      </p:sp>
      <p:sp>
        <p:nvSpPr>
          <p:cNvPr id="79" name="Google Shape;79;p16"/>
          <p:cNvSpPr txBox="1"/>
          <p:nvPr/>
        </p:nvSpPr>
        <p:spPr>
          <a:xfrm>
            <a:off x="540000" y="450000"/>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DATASET OVERVIEW</a:t>
            </a:r>
            <a:endParaRPr b="1" sz="2500">
              <a:solidFill>
                <a:srgbClr val="1A3C5E"/>
              </a:solidFill>
              <a:latin typeface="Fira Sans Extra Condensed"/>
              <a:ea typeface="Fira Sans Extra Condensed"/>
              <a:cs typeface="Fira Sans Extra Condensed"/>
              <a:sym typeface="Fira Sans Extra Condensed"/>
            </a:endParaRPr>
          </a:p>
        </p:txBody>
      </p:sp>
      <p:sp>
        <p:nvSpPr>
          <p:cNvPr id="80" name="Google Shape;80;p16"/>
          <p:cNvSpPr txBox="1"/>
          <p:nvPr/>
        </p:nvSpPr>
        <p:spPr>
          <a:xfrm>
            <a:off x="540000" y="852229"/>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THE EDA PLOTS</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pic>
        <p:nvPicPr>
          <p:cNvPr id="81" name="Google Shape;81;p16"/>
          <p:cNvPicPr preferRelativeResize="0"/>
          <p:nvPr/>
        </p:nvPicPr>
        <p:blipFill>
          <a:blip r:embed="rId3">
            <a:alphaModFix/>
          </a:blip>
          <a:stretch>
            <a:fillRect/>
          </a:stretch>
        </p:blipFill>
        <p:spPr>
          <a:xfrm>
            <a:off x="811725" y="2755350"/>
            <a:ext cx="7520550" cy="1834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85" name="Shape 85"/>
        <p:cNvGrpSpPr/>
        <p:nvPr/>
      </p:nvGrpSpPr>
      <p:grpSpPr>
        <a:xfrm>
          <a:off x="0" y="0"/>
          <a:ext cx="0" cy="0"/>
          <a:chOff x="0" y="0"/>
          <a:chExt cx="0" cy="0"/>
        </a:xfrm>
      </p:grpSpPr>
      <p:sp>
        <p:nvSpPr>
          <p:cNvPr id="86" name="Google Shape;86;p17"/>
          <p:cNvSpPr txBox="1"/>
          <p:nvPr/>
        </p:nvSpPr>
        <p:spPr>
          <a:xfrm>
            <a:off x="540000" y="450000"/>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METHODOLOGY</a:t>
            </a:r>
            <a:endParaRPr b="1" sz="2500">
              <a:solidFill>
                <a:srgbClr val="1A3C5E"/>
              </a:solidFill>
              <a:latin typeface="Fira Sans Extra Condensed"/>
              <a:ea typeface="Fira Sans Extra Condensed"/>
              <a:cs typeface="Fira Sans Extra Condensed"/>
              <a:sym typeface="Fira Sans Extra Condensed"/>
            </a:endParaRPr>
          </a:p>
        </p:txBody>
      </p:sp>
      <p:sp>
        <p:nvSpPr>
          <p:cNvPr id="87" name="Google Shape;87;p17"/>
          <p:cNvSpPr txBox="1"/>
          <p:nvPr/>
        </p:nvSpPr>
        <p:spPr>
          <a:xfrm>
            <a:off x="540000" y="852229"/>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THE ABLATION STUDY</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sp>
        <p:nvSpPr>
          <p:cNvPr id="88" name="Google Shape;88;p17"/>
          <p:cNvSpPr txBox="1"/>
          <p:nvPr/>
        </p:nvSpPr>
        <p:spPr>
          <a:xfrm>
            <a:off x="540000" y="1350000"/>
            <a:ext cx="5630400" cy="155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l" sz="1000">
                <a:solidFill>
                  <a:srgbClr val="2C5F8A"/>
                </a:solidFill>
                <a:latin typeface="Fira Sans"/>
                <a:ea typeface="Fira Sans"/>
                <a:cs typeface="Fira Sans"/>
                <a:sym typeface="Fira Sans"/>
              </a:rPr>
              <a:t>To prove exactly where our predictive power comes from, we designed an "Ablation Study." First, we carefully filtered out "early-censored" cases to ensure our models were learning from absolute ground-truth data.</a:t>
            </a:r>
            <a:endParaRPr sz="1000">
              <a:solidFill>
                <a:srgbClr val="2C5F8A"/>
              </a:solidFill>
              <a:latin typeface="Fira Sans"/>
              <a:ea typeface="Fira Sans"/>
              <a:cs typeface="Fira Sans"/>
              <a:sym typeface="Fira Sans"/>
            </a:endParaRPr>
          </a:p>
          <a:p>
            <a:pPr indent="0" lvl="0" marL="0" rtl="0" algn="l">
              <a:lnSpc>
                <a:spcPct val="115000"/>
              </a:lnSpc>
              <a:spcBef>
                <a:spcPts val="1200"/>
              </a:spcBef>
              <a:spcAft>
                <a:spcPts val="1200"/>
              </a:spcAft>
              <a:buNone/>
            </a:pPr>
            <a:r>
              <a:rPr lang="el" sz="1000">
                <a:solidFill>
                  <a:srgbClr val="2C5F8A"/>
                </a:solidFill>
                <a:latin typeface="Fira Sans"/>
                <a:ea typeface="Fira Sans"/>
                <a:cs typeface="Fira Sans"/>
                <a:sym typeface="Fira Sans"/>
              </a:rPr>
              <a:t>We then tested four distinct feature configurations. We started with a "Clinical-only" baseline. Next, we tested the genomic data in isolation by running a "Gene Expression-only" model and a "Mutation-only" model. Finally, we brought everything together into a "Fully Integrated" model to see if combining these modalities provided a measurable advantage.</a:t>
            </a:r>
            <a:endParaRPr sz="1000">
              <a:solidFill>
                <a:srgbClr val="2C5F8A"/>
              </a:solidFill>
              <a:latin typeface="Fira Sans"/>
              <a:ea typeface="Fira Sans"/>
              <a:cs typeface="Fira Sans"/>
              <a:sym typeface="Fir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92" name="Shape 92"/>
        <p:cNvGrpSpPr/>
        <p:nvPr/>
      </p:nvGrpSpPr>
      <p:grpSpPr>
        <a:xfrm>
          <a:off x="0" y="0"/>
          <a:ext cx="0" cy="0"/>
          <a:chOff x="0" y="0"/>
          <a:chExt cx="0" cy="0"/>
        </a:xfrm>
      </p:grpSpPr>
      <p:sp>
        <p:nvSpPr>
          <p:cNvPr id="93" name="Google Shape;93;p18"/>
          <p:cNvSpPr txBox="1"/>
          <p:nvPr/>
        </p:nvSpPr>
        <p:spPr>
          <a:xfrm>
            <a:off x="540000" y="3112500"/>
            <a:ext cx="3839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sz="1350">
                <a:solidFill>
                  <a:srgbClr val="2C5F8A"/>
                </a:solidFill>
                <a:latin typeface="Fira Sans"/>
                <a:ea typeface="Fira Sans"/>
                <a:cs typeface="Fira Sans"/>
                <a:sym typeface="Fira Sans"/>
              </a:rPr>
              <a:t>Model: </a:t>
            </a:r>
            <a:r>
              <a:rPr lang="el" sz="1350">
                <a:solidFill>
                  <a:srgbClr val="2C5F8A"/>
                </a:solidFill>
                <a:latin typeface="Fira Sans"/>
                <a:ea typeface="Fira Sans"/>
                <a:cs typeface="Fira Sans"/>
                <a:sym typeface="Fira Sans"/>
              </a:rPr>
              <a:t>Cox Proportional Hazards</a:t>
            </a:r>
            <a:endParaRPr sz="1350">
              <a:solidFill>
                <a:srgbClr val="2C5F8A"/>
              </a:solidFill>
              <a:latin typeface="Fira Sans"/>
              <a:ea typeface="Fira Sans"/>
              <a:cs typeface="Fira Sans"/>
              <a:sym typeface="Fira Sans"/>
            </a:endParaRPr>
          </a:p>
          <a:p>
            <a:pPr indent="0" lvl="0" marL="0" rtl="0" algn="l">
              <a:spcBef>
                <a:spcPts val="100"/>
              </a:spcBef>
              <a:spcAft>
                <a:spcPts val="0"/>
              </a:spcAft>
              <a:buNone/>
            </a:pPr>
            <a:r>
              <a:rPr b="1" lang="el" sz="1350">
                <a:solidFill>
                  <a:srgbClr val="2C5F8A"/>
                </a:solidFill>
                <a:latin typeface="Fira Sans"/>
                <a:ea typeface="Fira Sans"/>
                <a:cs typeface="Fira Sans"/>
                <a:sym typeface="Fira Sans"/>
              </a:rPr>
              <a:t>Metric: </a:t>
            </a:r>
            <a:r>
              <a:rPr lang="el" sz="1350">
                <a:solidFill>
                  <a:srgbClr val="2C5F8A"/>
                </a:solidFill>
                <a:latin typeface="Fira Sans"/>
                <a:ea typeface="Fira Sans"/>
                <a:cs typeface="Fira Sans"/>
                <a:sym typeface="Fira Sans"/>
              </a:rPr>
              <a:t>Concordance Index (C-Index) of 0.6734</a:t>
            </a:r>
            <a:endParaRPr sz="1350">
              <a:solidFill>
                <a:srgbClr val="2C5F8A"/>
              </a:solidFill>
              <a:latin typeface="Fira Sans"/>
              <a:ea typeface="Fira Sans"/>
              <a:cs typeface="Fira Sans"/>
              <a:sym typeface="Fira Sans"/>
            </a:endParaRPr>
          </a:p>
          <a:p>
            <a:pPr indent="0" lvl="0" marL="0" rtl="0" algn="l">
              <a:spcBef>
                <a:spcPts val="100"/>
              </a:spcBef>
              <a:spcAft>
                <a:spcPts val="0"/>
              </a:spcAft>
              <a:buNone/>
            </a:pPr>
            <a:r>
              <a:t/>
            </a:r>
            <a:endParaRPr sz="1450">
              <a:solidFill>
                <a:srgbClr val="2C5F8A"/>
              </a:solidFill>
              <a:latin typeface="Fira Sans"/>
              <a:ea typeface="Fira Sans"/>
              <a:cs typeface="Fira Sans"/>
              <a:sym typeface="Fira Sans"/>
            </a:endParaRPr>
          </a:p>
          <a:p>
            <a:pPr indent="0" lvl="0" marL="0" rtl="0" algn="l">
              <a:spcBef>
                <a:spcPts val="100"/>
              </a:spcBef>
              <a:spcAft>
                <a:spcPts val="100"/>
              </a:spcAft>
              <a:buNone/>
            </a:pPr>
            <a:r>
              <a:rPr lang="el" sz="1000">
                <a:solidFill>
                  <a:srgbClr val="2C5F8A"/>
                </a:solidFill>
                <a:latin typeface="Fira Sans"/>
                <a:ea typeface="Fira Sans"/>
                <a:cs typeface="Fira Sans"/>
                <a:sym typeface="Fira Sans"/>
              </a:rPr>
              <a:t>We used Cox Proportional Hazards to predict not just if a patient survives, but how long. Our model successfully ranks patient risk over long-term follow-ups, proving its durability beyond a simple 5-year window.</a:t>
            </a:r>
            <a:endParaRPr sz="1000">
              <a:solidFill>
                <a:srgbClr val="2C5F8A"/>
              </a:solidFill>
              <a:latin typeface="Fira Sans"/>
              <a:ea typeface="Fira Sans"/>
              <a:cs typeface="Fira Sans"/>
              <a:sym typeface="Fira Sans"/>
            </a:endParaRPr>
          </a:p>
        </p:txBody>
      </p:sp>
      <p:sp>
        <p:nvSpPr>
          <p:cNvPr id="94" name="Google Shape;94;p18"/>
          <p:cNvSpPr txBox="1"/>
          <p:nvPr/>
        </p:nvSpPr>
        <p:spPr>
          <a:xfrm>
            <a:off x="540000" y="450000"/>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RESULTS | SURVIVAL ANALYSIS</a:t>
            </a:r>
            <a:endParaRPr b="1" sz="2500">
              <a:solidFill>
                <a:srgbClr val="1A3C5E"/>
              </a:solidFill>
              <a:latin typeface="Fira Sans Extra Condensed"/>
              <a:ea typeface="Fira Sans Extra Condensed"/>
              <a:cs typeface="Fira Sans Extra Condensed"/>
              <a:sym typeface="Fira Sans Extra Condensed"/>
            </a:endParaRPr>
          </a:p>
        </p:txBody>
      </p:sp>
      <p:sp>
        <p:nvSpPr>
          <p:cNvPr id="95" name="Google Shape;95;p18"/>
          <p:cNvSpPr txBox="1"/>
          <p:nvPr/>
        </p:nvSpPr>
        <p:spPr>
          <a:xfrm>
            <a:off x="540000" y="852229"/>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LONG TERM SURVIVAL ANALYSIS</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pic>
        <p:nvPicPr>
          <p:cNvPr id="96" name="Google Shape;96;p18"/>
          <p:cNvPicPr preferRelativeResize="0"/>
          <p:nvPr/>
        </p:nvPicPr>
        <p:blipFill>
          <a:blip r:embed="rId3">
            <a:alphaModFix/>
          </a:blip>
          <a:stretch>
            <a:fillRect/>
          </a:stretch>
        </p:blipFill>
        <p:spPr>
          <a:xfrm>
            <a:off x="4379700" y="1069450"/>
            <a:ext cx="4568175" cy="2970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100" name="Shape 100"/>
        <p:cNvGrpSpPr/>
        <p:nvPr/>
      </p:nvGrpSpPr>
      <p:grpSpPr>
        <a:xfrm>
          <a:off x="0" y="0"/>
          <a:ext cx="0" cy="0"/>
          <a:chOff x="0" y="0"/>
          <a:chExt cx="0" cy="0"/>
        </a:xfrm>
      </p:grpSpPr>
      <p:sp>
        <p:nvSpPr>
          <p:cNvPr id="101" name="Google Shape;101;p19"/>
          <p:cNvSpPr txBox="1"/>
          <p:nvPr/>
        </p:nvSpPr>
        <p:spPr>
          <a:xfrm>
            <a:off x="540000" y="2527500"/>
            <a:ext cx="3143700" cy="206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l" sz="1250">
                <a:solidFill>
                  <a:srgbClr val="2C5F8A"/>
                </a:solidFill>
                <a:latin typeface="Fira Sans"/>
                <a:ea typeface="Fira Sans"/>
                <a:cs typeface="Fira Sans"/>
                <a:sym typeface="Fira Sans"/>
              </a:rPr>
              <a:t>Significant Risk: </a:t>
            </a:r>
            <a:r>
              <a:rPr lang="el" sz="1250">
                <a:solidFill>
                  <a:srgbClr val="2C5F8A"/>
                </a:solidFill>
                <a:latin typeface="Fira Sans"/>
                <a:ea typeface="Fira Sans"/>
                <a:cs typeface="Fira Sans"/>
                <a:sym typeface="Fira Sans"/>
              </a:rPr>
              <a:t>TP53 mutations</a:t>
            </a:r>
            <a:endParaRPr sz="1250">
              <a:solidFill>
                <a:srgbClr val="2C5F8A"/>
              </a:solidFill>
              <a:latin typeface="Fira Sans"/>
              <a:ea typeface="Fira Sans"/>
              <a:cs typeface="Fira Sans"/>
              <a:sym typeface="Fira Sans"/>
            </a:endParaRPr>
          </a:p>
          <a:p>
            <a:pPr indent="0" lvl="0" marL="0" rtl="0" algn="l">
              <a:spcBef>
                <a:spcPts val="100"/>
              </a:spcBef>
              <a:spcAft>
                <a:spcPts val="0"/>
              </a:spcAft>
              <a:buNone/>
            </a:pPr>
            <a:r>
              <a:rPr b="1" lang="el" sz="1250">
                <a:solidFill>
                  <a:srgbClr val="2C5F8A"/>
                </a:solidFill>
                <a:latin typeface="Fira Sans"/>
                <a:ea typeface="Fira Sans"/>
                <a:cs typeface="Fira Sans"/>
                <a:sym typeface="Fira Sans"/>
              </a:rPr>
              <a:t>Significant Protection: </a:t>
            </a:r>
            <a:r>
              <a:rPr lang="el" sz="1250">
                <a:solidFill>
                  <a:srgbClr val="2C5F8A"/>
                </a:solidFill>
                <a:latin typeface="Fira Sans"/>
                <a:ea typeface="Fira Sans"/>
                <a:cs typeface="Fira Sans"/>
                <a:sym typeface="Fira Sans"/>
              </a:rPr>
              <a:t>GATA3 mutations</a:t>
            </a:r>
            <a:endParaRPr sz="1250">
              <a:solidFill>
                <a:srgbClr val="2C5F8A"/>
              </a:solidFill>
              <a:latin typeface="Fira Sans"/>
              <a:ea typeface="Fira Sans"/>
              <a:cs typeface="Fira Sans"/>
              <a:sym typeface="Fira Sans"/>
            </a:endParaRPr>
          </a:p>
          <a:p>
            <a:pPr indent="0" lvl="0" marL="0" rtl="0" algn="l">
              <a:spcBef>
                <a:spcPts val="100"/>
              </a:spcBef>
              <a:spcAft>
                <a:spcPts val="0"/>
              </a:spcAft>
              <a:buNone/>
            </a:pPr>
            <a:r>
              <a:t/>
            </a:r>
            <a:endParaRPr sz="1450">
              <a:solidFill>
                <a:srgbClr val="2C5F8A"/>
              </a:solidFill>
              <a:latin typeface="Fira Sans"/>
              <a:ea typeface="Fira Sans"/>
              <a:cs typeface="Fira Sans"/>
              <a:sym typeface="Fira Sans"/>
            </a:endParaRPr>
          </a:p>
          <a:p>
            <a:pPr indent="0" lvl="0" marL="0" rtl="0" algn="l">
              <a:spcBef>
                <a:spcPts val="100"/>
              </a:spcBef>
              <a:spcAft>
                <a:spcPts val="100"/>
              </a:spcAft>
              <a:buNone/>
            </a:pPr>
            <a:r>
              <a:rPr lang="el" sz="1000">
                <a:solidFill>
                  <a:srgbClr val="2C5F8A"/>
                </a:solidFill>
                <a:latin typeface="Fira Sans"/>
                <a:ea typeface="Fira Sans"/>
                <a:cs typeface="Fira Sans"/>
                <a:sym typeface="Fira Sans"/>
              </a:rPr>
              <a:t>This volcano plot statistically maps the relationship between specific mutations and patient mortality risk. The model identified the TP53 mutation as the most significant driver of aggressive cancer and mortality. Conversely, it identified GATA3 as a protective factor. This convergence proves our computational findings align with established biological reality.</a:t>
            </a:r>
            <a:endParaRPr sz="1000">
              <a:solidFill>
                <a:srgbClr val="2C5F8A"/>
              </a:solidFill>
              <a:latin typeface="Fira Sans"/>
              <a:ea typeface="Fira Sans"/>
              <a:cs typeface="Fira Sans"/>
              <a:sym typeface="Fira Sans"/>
            </a:endParaRPr>
          </a:p>
        </p:txBody>
      </p:sp>
      <p:sp>
        <p:nvSpPr>
          <p:cNvPr id="102" name="Google Shape;102;p19"/>
          <p:cNvSpPr txBox="1"/>
          <p:nvPr/>
        </p:nvSpPr>
        <p:spPr>
          <a:xfrm>
            <a:off x="540000" y="449989"/>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RESULTS | </a:t>
            </a:r>
            <a:r>
              <a:rPr b="1" lang="el" sz="2500">
                <a:solidFill>
                  <a:srgbClr val="1A3C5E"/>
                </a:solidFill>
                <a:latin typeface="Fira Sans Extra Condensed"/>
                <a:ea typeface="Fira Sans Extra Condensed"/>
                <a:cs typeface="Fira Sans Extra Condensed"/>
                <a:sym typeface="Fira Sans Extra Condensed"/>
              </a:rPr>
              <a:t>STATISTICAL VALIDATION</a:t>
            </a:r>
            <a:endParaRPr b="1" sz="2500">
              <a:solidFill>
                <a:srgbClr val="1A3C5E"/>
              </a:solidFill>
              <a:latin typeface="Fira Sans Extra Condensed"/>
              <a:ea typeface="Fira Sans Extra Condensed"/>
              <a:cs typeface="Fira Sans Extra Condensed"/>
              <a:sym typeface="Fira Sans Extra Condensed"/>
            </a:endParaRPr>
          </a:p>
        </p:txBody>
      </p:sp>
      <p:sp>
        <p:nvSpPr>
          <p:cNvPr id="103" name="Google Shape;103;p19"/>
          <p:cNvSpPr txBox="1"/>
          <p:nvPr/>
        </p:nvSpPr>
        <p:spPr>
          <a:xfrm>
            <a:off x="540000" y="852218"/>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IDENTIFYING MOLECULAR DRIVERS</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pic>
        <p:nvPicPr>
          <p:cNvPr id="104" name="Google Shape;104;p19"/>
          <p:cNvPicPr preferRelativeResize="0"/>
          <p:nvPr/>
        </p:nvPicPr>
        <p:blipFill>
          <a:blip r:embed="rId3">
            <a:alphaModFix/>
          </a:blip>
          <a:stretch>
            <a:fillRect/>
          </a:stretch>
        </p:blipFill>
        <p:spPr>
          <a:xfrm>
            <a:off x="3860688" y="1350000"/>
            <a:ext cx="4959062" cy="324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108" name="Shape 108"/>
        <p:cNvGrpSpPr/>
        <p:nvPr/>
      </p:nvGrpSpPr>
      <p:grpSpPr>
        <a:xfrm>
          <a:off x="0" y="0"/>
          <a:ext cx="0" cy="0"/>
          <a:chOff x="0" y="0"/>
          <a:chExt cx="0" cy="0"/>
        </a:xfrm>
      </p:grpSpPr>
      <p:sp>
        <p:nvSpPr>
          <p:cNvPr id="109" name="Google Shape;109;p20"/>
          <p:cNvSpPr txBox="1"/>
          <p:nvPr/>
        </p:nvSpPr>
        <p:spPr>
          <a:xfrm>
            <a:off x="540000" y="2681400"/>
            <a:ext cx="3466200" cy="19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l" sz="1000">
                <a:solidFill>
                  <a:srgbClr val="2C5F8A"/>
                </a:solidFill>
                <a:latin typeface="Fira Sans"/>
                <a:ea typeface="Fira Sans"/>
                <a:cs typeface="Fira Sans"/>
                <a:sym typeface="Fira Sans"/>
              </a:rPr>
              <a:t>The value of multi-omic data becomes undeniable. By themselves, genetic mutations were the weakest predictor, simply because they are rare across the general population.</a:t>
            </a:r>
            <a:endParaRPr sz="1000">
              <a:solidFill>
                <a:srgbClr val="2C5F8A"/>
              </a:solidFill>
              <a:latin typeface="Fira Sans"/>
              <a:ea typeface="Fira Sans"/>
              <a:cs typeface="Fira Sans"/>
              <a:sym typeface="Fira Sans"/>
            </a:endParaRPr>
          </a:p>
          <a:p>
            <a:pPr indent="0" lvl="0" marL="0" rtl="0" algn="l">
              <a:lnSpc>
                <a:spcPct val="115000"/>
              </a:lnSpc>
              <a:spcBef>
                <a:spcPts val="1200"/>
              </a:spcBef>
              <a:spcAft>
                <a:spcPts val="1200"/>
              </a:spcAft>
              <a:buNone/>
            </a:pPr>
            <a:r>
              <a:rPr lang="el" sz="1000">
                <a:solidFill>
                  <a:srgbClr val="2C5F8A"/>
                </a:solidFill>
                <a:latin typeface="Fira Sans"/>
                <a:ea typeface="Fira Sans"/>
                <a:cs typeface="Fira Sans"/>
                <a:sym typeface="Fira Sans"/>
              </a:rPr>
              <a:t>However, when we look at the Fully Integrated model, it achieved an Area Under the Curve (AUC) of 0.7985. This is a solid 4.7% improvement over the standard clinical baseline, proving that combining molecular data with physical tumor traits yields the highest accuracy.</a:t>
            </a:r>
            <a:endParaRPr sz="1000">
              <a:solidFill>
                <a:srgbClr val="2C5F8A"/>
              </a:solidFill>
              <a:latin typeface="Fira Sans"/>
              <a:ea typeface="Fira Sans"/>
              <a:cs typeface="Fira Sans"/>
              <a:sym typeface="Fira Sans"/>
            </a:endParaRPr>
          </a:p>
        </p:txBody>
      </p:sp>
      <p:sp>
        <p:nvSpPr>
          <p:cNvPr id="110" name="Google Shape;110;p20"/>
          <p:cNvSpPr txBox="1"/>
          <p:nvPr/>
        </p:nvSpPr>
        <p:spPr>
          <a:xfrm>
            <a:off x="540000" y="449989"/>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PERFORMANCE GAINS</a:t>
            </a:r>
            <a:endParaRPr b="1" sz="2500">
              <a:solidFill>
                <a:srgbClr val="1A3C5E"/>
              </a:solidFill>
              <a:latin typeface="Fira Sans Extra Condensed"/>
              <a:ea typeface="Fira Sans Extra Condensed"/>
              <a:cs typeface="Fira Sans Extra Condensed"/>
              <a:sym typeface="Fira Sans Extra Condensed"/>
            </a:endParaRPr>
          </a:p>
        </p:txBody>
      </p:sp>
      <p:sp>
        <p:nvSpPr>
          <p:cNvPr id="111" name="Google Shape;111;p20"/>
          <p:cNvSpPr txBox="1"/>
          <p:nvPr/>
        </p:nvSpPr>
        <p:spPr>
          <a:xfrm>
            <a:off x="540000" y="852218"/>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INTEGRATED MODEL PERFORMANCE (THE AUC COMPARISON)</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pic>
        <p:nvPicPr>
          <p:cNvPr id="112" name="Google Shape;112;p20"/>
          <p:cNvPicPr preferRelativeResize="0"/>
          <p:nvPr/>
        </p:nvPicPr>
        <p:blipFill>
          <a:blip r:embed="rId3">
            <a:alphaModFix/>
          </a:blip>
          <a:stretch>
            <a:fillRect/>
          </a:stretch>
        </p:blipFill>
        <p:spPr>
          <a:xfrm>
            <a:off x="4163225" y="1282086"/>
            <a:ext cx="4440776" cy="33079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3F1"/>
        </a:solidFill>
      </p:bgPr>
    </p:bg>
    <p:spTree>
      <p:nvGrpSpPr>
        <p:cNvPr id="116" name="Shape 116"/>
        <p:cNvGrpSpPr/>
        <p:nvPr/>
      </p:nvGrpSpPr>
      <p:grpSpPr>
        <a:xfrm>
          <a:off x="0" y="0"/>
          <a:ext cx="0" cy="0"/>
          <a:chOff x="0" y="0"/>
          <a:chExt cx="0" cy="0"/>
        </a:xfrm>
      </p:grpSpPr>
      <p:sp>
        <p:nvSpPr>
          <p:cNvPr id="117" name="Google Shape;117;p21"/>
          <p:cNvSpPr txBox="1"/>
          <p:nvPr/>
        </p:nvSpPr>
        <p:spPr>
          <a:xfrm>
            <a:off x="540000" y="1350000"/>
            <a:ext cx="5223000" cy="155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l" sz="1000">
                <a:solidFill>
                  <a:srgbClr val="2C5F8A"/>
                </a:solidFill>
                <a:latin typeface="Fira Sans"/>
                <a:ea typeface="Fira Sans"/>
                <a:cs typeface="Fira Sans"/>
                <a:sym typeface="Fira Sans"/>
              </a:rPr>
              <a:t>While traditional clinical features remain the dominant signal for predicting survival, they are not the complete picture. Genomic integration provides a critical, measurable "lift" in prognostic accuracy.</a:t>
            </a:r>
            <a:endParaRPr sz="1000">
              <a:solidFill>
                <a:srgbClr val="2C5F8A"/>
              </a:solidFill>
              <a:latin typeface="Fira Sans"/>
              <a:ea typeface="Fira Sans"/>
              <a:cs typeface="Fira Sans"/>
              <a:sym typeface="Fira Sans"/>
            </a:endParaRPr>
          </a:p>
          <a:p>
            <a:pPr indent="0" lvl="0" marL="0" rtl="0" algn="l">
              <a:lnSpc>
                <a:spcPct val="115000"/>
              </a:lnSpc>
              <a:spcBef>
                <a:spcPts val="1200"/>
              </a:spcBef>
              <a:spcAft>
                <a:spcPts val="1200"/>
              </a:spcAft>
              <a:buNone/>
            </a:pPr>
            <a:r>
              <a:rPr lang="el" sz="1000">
                <a:solidFill>
                  <a:srgbClr val="2C5F8A"/>
                </a:solidFill>
                <a:latin typeface="Fira Sans"/>
                <a:ea typeface="Fira Sans"/>
                <a:cs typeface="Fira Sans"/>
                <a:sym typeface="Fira Sans"/>
              </a:rPr>
              <a:t>By combining clinical, gene expression, and mutation data through a rigorous machine learning pipeline, we provide a transparent framework for the future of oncology. These findings strongly support the integration of multi-modal data to help doctors design truly personalized treatment plans for breast cancer patients.</a:t>
            </a:r>
            <a:endParaRPr sz="1000">
              <a:solidFill>
                <a:srgbClr val="2C5F8A"/>
              </a:solidFill>
              <a:latin typeface="Fira Sans"/>
              <a:ea typeface="Fira Sans"/>
              <a:cs typeface="Fira Sans"/>
              <a:sym typeface="Fira Sans"/>
            </a:endParaRPr>
          </a:p>
        </p:txBody>
      </p:sp>
      <p:sp>
        <p:nvSpPr>
          <p:cNvPr id="118" name="Google Shape;118;p21"/>
          <p:cNvSpPr txBox="1"/>
          <p:nvPr/>
        </p:nvSpPr>
        <p:spPr>
          <a:xfrm>
            <a:off x="540000" y="450000"/>
            <a:ext cx="6504600" cy="569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b="1" lang="el" sz="2500">
                <a:solidFill>
                  <a:srgbClr val="1A3C5E"/>
                </a:solidFill>
                <a:latin typeface="Fira Sans Extra Condensed"/>
                <a:ea typeface="Fira Sans Extra Condensed"/>
                <a:cs typeface="Fira Sans Extra Condensed"/>
                <a:sym typeface="Fira Sans Extra Condensed"/>
              </a:rPr>
              <a:t>DISCUSSION</a:t>
            </a:r>
            <a:endParaRPr b="1" sz="2500">
              <a:solidFill>
                <a:srgbClr val="1A3C5E"/>
              </a:solidFill>
              <a:latin typeface="Fira Sans Extra Condensed"/>
              <a:ea typeface="Fira Sans Extra Condensed"/>
              <a:cs typeface="Fira Sans Extra Condensed"/>
              <a:sym typeface="Fira Sans Extra Condensed"/>
            </a:endParaRPr>
          </a:p>
        </p:txBody>
      </p:sp>
      <p:sp>
        <p:nvSpPr>
          <p:cNvPr id="119" name="Google Shape;119;p21"/>
          <p:cNvSpPr txBox="1"/>
          <p:nvPr/>
        </p:nvSpPr>
        <p:spPr>
          <a:xfrm>
            <a:off x="540000" y="852229"/>
            <a:ext cx="6504600" cy="4617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150"/>
              </a:spcAft>
              <a:buNone/>
            </a:pPr>
            <a:r>
              <a:rPr lang="el" sz="1800">
                <a:solidFill>
                  <a:srgbClr val="1A3C5E"/>
                </a:solidFill>
                <a:latin typeface="Fira Sans Extra Condensed SemiBold"/>
                <a:ea typeface="Fira Sans Extra Condensed SemiBold"/>
                <a:cs typeface="Fira Sans Extra Condensed SemiBold"/>
                <a:sym typeface="Fira Sans Extra Condensed SemiBold"/>
              </a:rPr>
              <a:t>CLINICAL RELEVANCE</a:t>
            </a:r>
            <a:endParaRPr sz="1800">
              <a:solidFill>
                <a:srgbClr val="1A3C5E"/>
              </a:solidFill>
              <a:latin typeface="Fira Sans Extra Condensed SemiBold"/>
              <a:ea typeface="Fira Sans Extra Condensed SemiBold"/>
              <a:cs typeface="Fira Sans Extra Condensed SemiBold"/>
              <a:sym typeface="Fira Sans Extra Condensed Semi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